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8" r:id="rId4"/>
    <p:sldId id="259" r:id="rId5"/>
    <p:sldId id="260" r:id="rId6"/>
    <p:sldId id="263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7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6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9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8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1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9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8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7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9BD673D-F388-41CF-8378-DFB84D6B733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51D4834-7817-4086-BE8E-CF738D8FE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1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ost.io/docs" TargetMode="External"/><Relationship Id="rId3" Type="http://schemas.openxmlformats.org/officeDocument/2006/relationships/hyperlink" Target="https://opencost.io/" TargetMode="External"/><Relationship Id="rId7" Type="http://schemas.openxmlformats.org/officeDocument/2006/relationships/hyperlink" Target="https://github.com/opencost/opencost-websit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pencost/opencost-helm-chart" TargetMode="External"/><Relationship Id="rId5" Type="http://schemas.openxmlformats.org/officeDocument/2006/relationships/hyperlink" Target="https://github.com/opencost/opencost" TargetMode="External"/><Relationship Id="rId4" Type="http://schemas.openxmlformats.org/officeDocument/2006/relationships/hyperlink" Target="https://slack.cncf.io/#opencost" TargetMode="External"/><Relationship Id="rId9" Type="http://schemas.openxmlformats.org/officeDocument/2006/relationships/hyperlink" Target="https://linkedin.com/showcase/openco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7388-3601-9F0B-206B-7297505E9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OpenCost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53E2D-6923-3029-E563-709BCE432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Kubernetes Cost Beyond Cloud Bills</a:t>
            </a:r>
          </a:p>
        </p:txBody>
      </p:sp>
      <p:pic>
        <p:nvPicPr>
          <p:cNvPr id="1030" name="Picture 6" descr="OpenCost is a FinOps Certified Solution! | OpenCost — open ...">
            <a:extLst>
              <a:ext uri="{FF2B5EF4-FFF2-40B4-BE49-F238E27FC236}">
                <a16:creationId xmlns:a16="http://schemas.microsoft.com/office/drawing/2014/main" id="{CB92AF9E-A6F4-98DF-F666-D6854C28B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771" y="2065023"/>
            <a:ext cx="1260458" cy="114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52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F521-A497-B6C2-DB62-DE62D976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909FFED-882D-314C-54F3-AA216FEE6886}"/>
              </a:ext>
            </a:extLst>
          </p:cNvPr>
          <p:cNvSpPr/>
          <p:nvPr/>
        </p:nvSpPr>
        <p:spPr>
          <a:xfrm>
            <a:off x="5897034" y="1525603"/>
            <a:ext cx="4368801" cy="4609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67021-97DA-F090-4F53-B3D40BA3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4" y="-3049"/>
            <a:ext cx="10058400" cy="1609344"/>
          </a:xfrm>
        </p:spPr>
        <p:txBody>
          <a:bodyPr/>
          <a:lstStyle/>
          <a:p>
            <a:r>
              <a:rPr lang="en-US" dirty="0"/>
              <a:t>Opencost and its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871B4-DA77-01B6-031E-A467CBE6A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183645"/>
            <a:ext cx="10058400" cy="341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/>
              <a:t>Opensource cost monitoring for kubernetes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8145EA-4E07-9711-029C-1ACCB10306CF}"/>
              </a:ext>
            </a:extLst>
          </p:cNvPr>
          <p:cNvSpPr txBox="1">
            <a:spLocks/>
          </p:cNvSpPr>
          <p:nvPr/>
        </p:nvSpPr>
        <p:spPr>
          <a:xfrm>
            <a:off x="484717" y="1694351"/>
            <a:ext cx="2696634" cy="2938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Vendor-Neutral</a:t>
            </a:r>
          </a:p>
          <a:p>
            <a:r>
              <a:rPr lang="en-US" sz="1400" dirty="0"/>
              <a:t>Unified Cost Model</a:t>
            </a:r>
          </a:p>
          <a:p>
            <a:r>
              <a:rPr lang="en-US" sz="1400" dirty="0"/>
              <a:t>Multi-Cloud Support</a:t>
            </a:r>
          </a:p>
          <a:p>
            <a:r>
              <a:rPr lang="en-US" sz="1400" dirty="0"/>
              <a:t>Extensible Architecture</a:t>
            </a:r>
          </a:p>
          <a:p>
            <a:r>
              <a:rPr lang="en-US" sz="1400" dirty="0"/>
              <a:t>Flexible Deployment</a:t>
            </a:r>
          </a:p>
          <a:p>
            <a:endParaRPr lang="en-US" sz="1600" dirty="0"/>
          </a:p>
        </p:txBody>
      </p:sp>
      <p:pic>
        <p:nvPicPr>
          <p:cNvPr id="1026" name="Picture 2" descr="Brand Guidelines | CNCF">
            <a:extLst>
              <a:ext uri="{FF2B5EF4-FFF2-40B4-BE49-F238E27FC236}">
                <a16:creationId xmlns:a16="http://schemas.microsoft.com/office/drawing/2014/main" id="{E90939A9-DC8C-EC4B-2209-3F19FC88C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468" y="5757690"/>
            <a:ext cx="1696437" cy="102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0FBCCAE-7716-618F-843E-B1B24120C50E}"/>
              </a:ext>
            </a:extLst>
          </p:cNvPr>
          <p:cNvSpPr/>
          <p:nvPr/>
        </p:nvSpPr>
        <p:spPr>
          <a:xfrm>
            <a:off x="2874434" y="2005582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Platform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0AD73D-84F6-1B56-85D0-6DFCE3578E8C}"/>
              </a:ext>
            </a:extLst>
          </p:cNvPr>
          <p:cNvSpPr/>
          <p:nvPr/>
        </p:nvSpPr>
        <p:spPr>
          <a:xfrm>
            <a:off x="2874434" y="2616633"/>
            <a:ext cx="1354667" cy="4008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Cloud Provider API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5E106CD8-6F9A-46B8-BE8C-044691F7054E}"/>
              </a:ext>
            </a:extLst>
          </p:cNvPr>
          <p:cNvSpPr/>
          <p:nvPr/>
        </p:nvSpPr>
        <p:spPr>
          <a:xfrm>
            <a:off x="4572001" y="2005582"/>
            <a:ext cx="1168400" cy="101194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Prometheus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67504BD-94A3-E52D-45C2-1A2183D92744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>
            <a:off x="4229101" y="2179657"/>
            <a:ext cx="1905000" cy="1876894"/>
          </a:xfrm>
          <a:prstGeom prst="bentConnector3">
            <a:avLst>
              <a:gd name="adj1" fmla="val 9556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B140B6-2788-4C61-1193-9E3A2B685952}"/>
              </a:ext>
            </a:extLst>
          </p:cNvPr>
          <p:cNvSpPr/>
          <p:nvPr/>
        </p:nvSpPr>
        <p:spPr>
          <a:xfrm>
            <a:off x="6134101" y="3882476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Metrics Emitter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F398214-AA81-B5BF-6677-CF968E8A9262}"/>
              </a:ext>
            </a:extLst>
          </p:cNvPr>
          <p:cNvCxnSpPr>
            <a:cxnSpLocks/>
            <a:stCxn id="35" idx="3"/>
            <a:endCxn id="9" idx="1"/>
          </p:cNvCxnSpPr>
          <p:nvPr/>
        </p:nvCxnSpPr>
        <p:spPr>
          <a:xfrm>
            <a:off x="4229101" y="2817081"/>
            <a:ext cx="1905000" cy="1239470"/>
          </a:xfrm>
          <a:prstGeom prst="bentConnector3">
            <a:avLst>
              <a:gd name="adj1" fmla="val 955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8152EF4-CFB2-2DA4-55F2-DD6663E0A520}"/>
              </a:ext>
            </a:extLst>
          </p:cNvPr>
          <p:cNvCxnSpPr>
            <a:stCxn id="9" idx="0"/>
            <a:endCxn id="6" idx="3"/>
          </p:cNvCxnSpPr>
          <p:nvPr/>
        </p:nvCxnSpPr>
        <p:spPr>
          <a:xfrm rot="16200000" flipV="1">
            <a:off x="5551344" y="2622385"/>
            <a:ext cx="864948" cy="165523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05DFEB-B77B-1B94-45EA-993E9C50C49A}"/>
              </a:ext>
            </a:extLst>
          </p:cNvPr>
          <p:cNvSpPr/>
          <p:nvPr/>
        </p:nvSpPr>
        <p:spPr>
          <a:xfrm>
            <a:off x="6172201" y="2337480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Prometheus Querier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99F955-0FC9-D8FC-F108-A920BAE6E840}"/>
              </a:ext>
            </a:extLst>
          </p:cNvPr>
          <p:cNvCxnSpPr>
            <a:stCxn id="6" idx="4"/>
            <a:endCxn id="21" idx="1"/>
          </p:cNvCxnSpPr>
          <p:nvPr/>
        </p:nvCxnSpPr>
        <p:spPr>
          <a:xfrm>
            <a:off x="5740401" y="2511555"/>
            <a:ext cx="431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3E307B-5E8F-829E-D634-CDE33A25F7D1}"/>
              </a:ext>
            </a:extLst>
          </p:cNvPr>
          <p:cNvSpPr/>
          <p:nvPr/>
        </p:nvSpPr>
        <p:spPr>
          <a:xfrm>
            <a:off x="7708901" y="2337480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Aggregation + Filtering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C3AE95-8E96-586A-DA6A-DEE8BAE9A7A5}"/>
              </a:ext>
            </a:extLst>
          </p:cNvPr>
          <p:cNvSpPr/>
          <p:nvPr/>
        </p:nvSpPr>
        <p:spPr>
          <a:xfrm>
            <a:off x="9461502" y="2005581"/>
            <a:ext cx="1655234" cy="275709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DFA09073-3138-C62B-BD32-14BC2A257EDB}"/>
              </a:ext>
            </a:extLst>
          </p:cNvPr>
          <p:cNvSpPr/>
          <p:nvPr/>
        </p:nvSpPr>
        <p:spPr>
          <a:xfrm>
            <a:off x="9520768" y="3093037"/>
            <a:ext cx="1536701" cy="410847"/>
          </a:xfrm>
          <a:prstGeom prst="flowChartInputOutp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Allocations</a:t>
            </a:r>
          </a:p>
        </p:txBody>
      </p:sp>
      <p:sp>
        <p:nvSpPr>
          <p:cNvPr id="30" name="Flowchart: Data 29">
            <a:extLst>
              <a:ext uri="{FF2B5EF4-FFF2-40B4-BE49-F238E27FC236}">
                <a16:creationId xmlns:a16="http://schemas.microsoft.com/office/drawing/2014/main" id="{83F5870D-FDB4-5550-E9A2-16736FBEED29}"/>
              </a:ext>
            </a:extLst>
          </p:cNvPr>
          <p:cNvSpPr/>
          <p:nvPr/>
        </p:nvSpPr>
        <p:spPr>
          <a:xfrm>
            <a:off x="9537703" y="3676212"/>
            <a:ext cx="1557868" cy="410847"/>
          </a:xfrm>
          <a:prstGeom prst="flowChartInputOutp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Cloud Costs</a:t>
            </a:r>
          </a:p>
        </p:txBody>
      </p:sp>
      <p:sp>
        <p:nvSpPr>
          <p:cNvPr id="32" name="Flowchart: Data 31">
            <a:extLst>
              <a:ext uri="{FF2B5EF4-FFF2-40B4-BE49-F238E27FC236}">
                <a16:creationId xmlns:a16="http://schemas.microsoft.com/office/drawing/2014/main" id="{0121E1D2-86BF-2F44-1A3F-910A8B13DC0A}"/>
              </a:ext>
            </a:extLst>
          </p:cNvPr>
          <p:cNvSpPr/>
          <p:nvPr/>
        </p:nvSpPr>
        <p:spPr>
          <a:xfrm>
            <a:off x="9599088" y="4237177"/>
            <a:ext cx="1496483" cy="418353"/>
          </a:xfrm>
          <a:prstGeom prst="flowChartInputOutp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Custom Costs</a:t>
            </a:r>
          </a:p>
        </p:txBody>
      </p:sp>
      <p:sp>
        <p:nvSpPr>
          <p:cNvPr id="33" name="Flowchart: Data 32">
            <a:extLst>
              <a:ext uri="{FF2B5EF4-FFF2-40B4-BE49-F238E27FC236}">
                <a16:creationId xmlns:a16="http://schemas.microsoft.com/office/drawing/2014/main" id="{D1385C7F-3B87-D0D4-19AE-1348889576C4}"/>
              </a:ext>
            </a:extLst>
          </p:cNvPr>
          <p:cNvSpPr/>
          <p:nvPr/>
        </p:nvSpPr>
        <p:spPr>
          <a:xfrm>
            <a:off x="9499602" y="2471215"/>
            <a:ext cx="1536700" cy="410846"/>
          </a:xfrm>
          <a:prstGeom prst="flowChartInputOutp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Assets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42DEFD0-E139-9AF0-B427-B0A0ACD747FB}"/>
              </a:ext>
            </a:extLst>
          </p:cNvPr>
          <p:cNvSpPr/>
          <p:nvPr/>
        </p:nvSpPr>
        <p:spPr>
          <a:xfrm>
            <a:off x="9643535" y="2054679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Opencost API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5DC198-2F98-B7C0-55F4-F70A55BDA28D}"/>
              </a:ext>
            </a:extLst>
          </p:cNvPr>
          <p:cNvSpPr/>
          <p:nvPr/>
        </p:nvSpPr>
        <p:spPr>
          <a:xfrm>
            <a:off x="7310968" y="3349079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Querier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81EC558-96DE-D377-6D79-50F6E49B39C1}"/>
              </a:ext>
            </a:extLst>
          </p:cNvPr>
          <p:cNvSpPr/>
          <p:nvPr/>
        </p:nvSpPr>
        <p:spPr>
          <a:xfrm>
            <a:off x="6214533" y="4749466"/>
            <a:ext cx="1934630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Cloud Cost Pipeline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B04D01F-223F-9E7D-792D-005AD59F4D50}"/>
              </a:ext>
            </a:extLst>
          </p:cNvPr>
          <p:cNvSpPr/>
          <p:nvPr/>
        </p:nvSpPr>
        <p:spPr>
          <a:xfrm>
            <a:off x="8386234" y="5256828"/>
            <a:ext cx="1354667" cy="3481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OpenCost Plugins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3E3B236-491E-5FBA-6CAD-21E653271F5F}"/>
              </a:ext>
            </a:extLst>
          </p:cNvPr>
          <p:cNvCxnSpPr>
            <a:stCxn id="45" idx="3"/>
            <a:endCxn id="39" idx="2"/>
          </p:cNvCxnSpPr>
          <p:nvPr/>
        </p:nvCxnSpPr>
        <p:spPr>
          <a:xfrm flipH="1" flipV="1">
            <a:off x="7988302" y="3697229"/>
            <a:ext cx="160861" cy="1226312"/>
          </a:xfrm>
          <a:prstGeom prst="bentConnector4">
            <a:avLst>
              <a:gd name="adj1" fmla="val -142110"/>
              <a:gd name="adj2" fmla="val 5709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8B153F3-C54B-FFA8-A758-EFC6B58A2EF5}"/>
              </a:ext>
            </a:extLst>
          </p:cNvPr>
          <p:cNvCxnSpPr>
            <a:stCxn id="46" idx="0"/>
            <a:endCxn id="39" idx="3"/>
          </p:cNvCxnSpPr>
          <p:nvPr/>
        </p:nvCxnSpPr>
        <p:spPr>
          <a:xfrm rot="16200000" flipV="1">
            <a:off x="7997765" y="4191024"/>
            <a:ext cx="1733674" cy="39793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8D54658-6AFB-175E-5B0B-B2724154362F}"/>
              </a:ext>
            </a:extLst>
          </p:cNvPr>
          <p:cNvCxnSpPr>
            <a:stCxn id="39" idx="0"/>
            <a:endCxn id="25" idx="2"/>
          </p:cNvCxnSpPr>
          <p:nvPr/>
        </p:nvCxnSpPr>
        <p:spPr>
          <a:xfrm rot="5400000" flipH="1" flipV="1">
            <a:off x="7855544" y="2818389"/>
            <a:ext cx="663449" cy="39793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A787D29-CFED-331E-9422-BBF16A277BB4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7526868" y="2511555"/>
            <a:ext cx="182033" cy="9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0BD12E4-612D-5E4D-9BA3-06897E5BABA7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9063568" y="2511555"/>
            <a:ext cx="397934" cy="872573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F9AA210-F204-5A35-42DD-8ED2ACB33C39}"/>
              </a:ext>
            </a:extLst>
          </p:cNvPr>
          <p:cNvSpPr/>
          <p:nvPr/>
        </p:nvSpPr>
        <p:spPr>
          <a:xfrm>
            <a:off x="2874434" y="3397594"/>
            <a:ext cx="1354667" cy="40089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SaaS Billing API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C982DFDF-36DD-D101-AFC8-6F69A959FF0A}"/>
              </a:ext>
            </a:extLst>
          </p:cNvPr>
          <p:cNvCxnSpPr>
            <a:cxnSpLocks/>
            <a:stCxn id="35" idx="3"/>
            <a:endCxn id="45" idx="1"/>
          </p:cNvCxnSpPr>
          <p:nvPr/>
        </p:nvCxnSpPr>
        <p:spPr>
          <a:xfrm>
            <a:off x="4229101" y="2817081"/>
            <a:ext cx="1985432" cy="2106460"/>
          </a:xfrm>
          <a:prstGeom prst="bentConnector3">
            <a:avLst>
              <a:gd name="adj1" fmla="val 9488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Connector: Elbow 1024">
            <a:extLst>
              <a:ext uri="{FF2B5EF4-FFF2-40B4-BE49-F238E27FC236}">
                <a16:creationId xmlns:a16="http://schemas.microsoft.com/office/drawing/2014/main" id="{C29F6064-AA7B-7EE2-5B3A-DA56E730AAB0}"/>
              </a:ext>
            </a:extLst>
          </p:cNvPr>
          <p:cNvCxnSpPr>
            <a:cxnSpLocks/>
            <a:stCxn id="58" idx="2"/>
            <a:endCxn id="46" idx="2"/>
          </p:cNvCxnSpPr>
          <p:nvPr/>
        </p:nvCxnSpPr>
        <p:spPr>
          <a:xfrm rot="16200000" flipH="1">
            <a:off x="5404424" y="1945833"/>
            <a:ext cx="1806489" cy="5511800"/>
          </a:xfrm>
          <a:prstGeom prst="bentConnector3">
            <a:avLst>
              <a:gd name="adj1" fmla="val 11734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1" name="Picture 4" descr="Overview | OpenCost — open source cost monitoring for cloud ...">
            <a:extLst>
              <a:ext uri="{FF2B5EF4-FFF2-40B4-BE49-F238E27FC236}">
                <a16:creationId xmlns:a16="http://schemas.microsoft.com/office/drawing/2014/main" id="{6C4C19FA-2652-C982-FDF3-05340C5AE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881" y="1679796"/>
            <a:ext cx="1797702" cy="37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Graphic 1032" descr="User with solid fill">
            <a:extLst>
              <a:ext uri="{FF2B5EF4-FFF2-40B4-BE49-F238E27FC236}">
                <a16:creationId xmlns:a16="http://schemas.microsoft.com/office/drawing/2014/main" id="{D501012F-2F23-E344-2D98-D6D8D6F73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8320" y="3038438"/>
            <a:ext cx="484715" cy="484715"/>
          </a:xfrm>
          <a:prstGeom prst="rect">
            <a:avLst/>
          </a:prstGeom>
        </p:spPr>
      </p:pic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9701BE7B-773B-226A-30D2-032FA94B9C9E}"/>
              </a:ext>
            </a:extLst>
          </p:cNvPr>
          <p:cNvCxnSpPr/>
          <p:nvPr/>
        </p:nvCxnSpPr>
        <p:spPr>
          <a:xfrm>
            <a:off x="11116736" y="3355682"/>
            <a:ext cx="4318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E1F6B1B-8830-C79A-C22F-811C30CE12AF}"/>
              </a:ext>
            </a:extLst>
          </p:cNvPr>
          <p:cNvSpPr txBox="1"/>
          <p:nvPr/>
        </p:nvSpPr>
        <p:spPr>
          <a:xfrm>
            <a:off x="11223625" y="3468389"/>
            <a:ext cx="111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API/UI User</a:t>
            </a:r>
            <a:endParaRPr lang="en-US" dirty="0"/>
          </a:p>
        </p:txBody>
      </p:sp>
      <p:pic>
        <p:nvPicPr>
          <p:cNvPr id="4098" name="Picture 2" descr="Kubernetes Icon SVG Vector &amp; PNG Free Download | UXWing">
            <a:extLst>
              <a:ext uri="{FF2B5EF4-FFF2-40B4-BE49-F238E27FC236}">
                <a16:creationId xmlns:a16="http://schemas.microsoft.com/office/drawing/2014/main" id="{660E2362-754B-6DC9-B289-54E7BFDED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876" y="2061422"/>
            <a:ext cx="243452" cy="24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BB383A9-9FBF-AE2A-2924-464EC7727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636" y="2707613"/>
            <a:ext cx="291131" cy="28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02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924B-D25A-D559-7A53-ADAA2F7E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15" y="263482"/>
            <a:ext cx="10058400" cy="844635"/>
          </a:xfrm>
        </p:spPr>
        <p:txBody>
          <a:bodyPr>
            <a:normAutofit/>
          </a:bodyPr>
          <a:lstStyle/>
          <a:p>
            <a:r>
              <a:rPr lang="en-US" sz="4400" dirty="0"/>
              <a:t>Why This Matters: The day-2 cost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2DC59-5F72-52E2-7608-7C005021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15" y="1350941"/>
            <a:ext cx="4213352" cy="1383792"/>
          </a:xfrm>
        </p:spPr>
        <p:txBody>
          <a:bodyPr/>
          <a:lstStyle/>
          <a:p>
            <a:r>
              <a:rPr lang="en-US" dirty="0"/>
              <a:t>Day 2 Ops - Cost Management</a:t>
            </a:r>
          </a:p>
          <a:p>
            <a:r>
              <a:rPr lang="en-US" dirty="0"/>
              <a:t>Total Cost Visibility</a:t>
            </a:r>
          </a:p>
          <a:p>
            <a:r>
              <a:rPr lang="en-US" dirty="0"/>
              <a:t>Unit Economics for Engineers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D136A-C2D6-7C1F-A6DA-66D8866BCA23}"/>
              </a:ext>
            </a:extLst>
          </p:cNvPr>
          <p:cNvSpPr/>
          <p:nvPr/>
        </p:nvSpPr>
        <p:spPr>
          <a:xfrm>
            <a:off x="5003799" y="1202268"/>
            <a:ext cx="5257801" cy="5037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9023F8-FBE4-0BB0-6042-2E6AECE940AB}"/>
              </a:ext>
            </a:extLst>
          </p:cNvPr>
          <p:cNvSpPr/>
          <p:nvPr/>
        </p:nvSpPr>
        <p:spPr>
          <a:xfrm>
            <a:off x="5215466" y="1972732"/>
            <a:ext cx="4834468" cy="18711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CE8B7F-4B09-9D4B-094F-DDC69931C9B9}"/>
              </a:ext>
            </a:extLst>
          </p:cNvPr>
          <p:cNvSpPr/>
          <p:nvPr/>
        </p:nvSpPr>
        <p:spPr>
          <a:xfrm>
            <a:off x="5376334" y="1825074"/>
            <a:ext cx="1270000" cy="30005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CLUSTER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FF66DE-A847-A093-6AEB-32089FDDB9E5}"/>
              </a:ext>
            </a:extLst>
          </p:cNvPr>
          <p:cNvSpPr/>
          <p:nvPr/>
        </p:nvSpPr>
        <p:spPr>
          <a:xfrm>
            <a:off x="5376333" y="2220637"/>
            <a:ext cx="2243667" cy="69189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Resource Allocation Cost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CPU, GPU, Memory, Disk, LB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4C3CE7-D571-5B54-DEAC-EAC7A9A18F8E}"/>
              </a:ext>
            </a:extLst>
          </p:cNvPr>
          <p:cNvSpPr/>
          <p:nvPr/>
        </p:nvSpPr>
        <p:spPr>
          <a:xfrm>
            <a:off x="7687733" y="2220637"/>
            <a:ext cx="2243667" cy="69189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Resource Usage Cost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Egress, Cross Region/ Zone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1D99F7-AEA8-B78F-261B-050F9FCFD420}"/>
              </a:ext>
            </a:extLst>
          </p:cNvPr>
          <p:cNvSpPr/>
          <p:nvPr/>
        </p:nvSpPr>
        <p:spPr>
          <a:xfrm>
            <a:off x="5372100" y="3008036"/>
            <a:ext cx="4559300" cy="6918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Overhead Costs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Control plane costs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Licensing/Subscription costs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393324-4FB0-2147-E753-3C20FABAD2AE}"/>
              </a:ext>
            </a:extLst>
          </p:cNvPr>
          <p:cNvSpPr/>
          <p:nvPr/>
        </p:nvSpPr>
        <p:spPr>
          <a:xfrm>
            <a:off x="5202766" y="4091770"/>
            <a:ext cx="4834468" cy="188942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B424E9-1855-D7CD-2BFC-CA1B14A9350B}"/>
              </a:ext>
            </a:extLst>
          </p:cNvPr>
          <p:cNvSpPr/>
          <p:nvPr/>
        </p:nvSpPr>
        <p:spPr>
          <a:xfrm>
            <a:off x="5401734" y="3962401"/>
            <a:ext cx="1270000" cy="30005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CONTAINER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52B435-04E1-E0D8-5D2D-EC8BD796CBB7}"/>
              </a:ext>
            </a:extLst>
          </p:cNvPr>
          <p:cNvSpPr/>
          <p:nvPr/>
        </p:nvSpPr>
        <p:spPr>
          <a:xfrm>
            <a:off x="5376333" y="4389289"/>
            <a:ext cx="2243667" cy="3000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0E7FA6-A85A-323F-52A3-0C5806A25335}"/>
              </a:ext>
            </a:extLst>
          </p:cNvPr>
          <p:cNvSpPr/>
          <p:nvPr/>
        </p:nvSpPr>
        <p:spPr>
          <a:xfrm>
            <a:off x="5372100" y="4771306"/>
            <a:ext cx="2243667" cy="3000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GPU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AA6D4E-ACC4-FDC3-7E5E-3FCA8A15D6BB}"/>
              </a:ext>
            </a:extLst>
          </p:cNvPr>
          <p:cNvSpPr/>
          <p:nvPr/>
        </p:nvSpPr>
        <p:spPr>
          <a:xfrm>
            <a:off x="5372100" y="5153323"/>
            <a:ext cx="2243667" cy="3000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48158A-DDF2-1DF5-699C-A1FC6A97C940}"/>
              </a:ext>
            </a:extLst>
          </p:cNvPr>
          <p:cNvSpPr/>
          <p:nvPr/>
        </p:nvSpPr>
        <p:spPr>
          <a:xfrm>
            <a:off x="5372099" y="5558114"/>
            <a:ext cx="2243667" cy="3000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DISK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6D2BF7-F081-6779-F5E0-BD4CB78526A9}"/>
              </a:ext>
            </a:extLst>
          </p:cNvPr>
          <p:cNvSpPr/>
          <p:nvPr/>
        </p:nvSpPr>
        <p:spPr>
          <a:xfrm>
            <a:off x="7702550" y="4389289"/>
            <a:ext cx="2243667" cy="30005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Egress traffic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9D4758-F01D-53CB-408D-97FC2EC2F86C}"/>
              </a:ext>
            </a:extLst>
          </p:cNvPr>
          <p:cNvSpPr/>
          <p:nvPr/>
        </p:nvSpPr>
        <p:spPr>
          <a:xfrm>
            <a:off x="7687732" y="4768508"/>
            <a:ext cx="2243667" cy="30005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Cross Region traffic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AB26C3-5B44-53D2-3D67-3D349B5981CC}"/>
              </a:ext>
            </a:extLst>
          </p:cNvPr>
          <p:cNvSpPr/>
          <p:nvPr/>
        </p:nvSpPr>
        <p:spPr>
          <a:xfrm>
            <a:off x="7687731" y="5147727"/>
            <a:ext cx="2243667" cy="30005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Cross Zone traffic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8699AF-E439-ECC3-DC1F-28B3155C6DF5}"/>
              </a:ext>
            </a:extLst>
          </p:cNvPr>
          <p:cNvSpPr/>
          <p:nvPr/>
        </p:nvSpPr>
        <p:spPr>
          <a:xfrm>
            <a:off x="6113653" y="1310301"/>
            <a:ext cx="3177794" cy="30005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Kubernetes Cost Model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783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4874B04B-C061-6222-18B2-7DBC8F46D364}"/>
              </a:ext>
            </a:extLst>
          </p:cNvPr>
          <p:cNvSpPr txBox="1">
            <a:spLocks/>
          </p:cNvSpPr>
          <p:nvPr/>
        </p:nvSpPr>
        <p:spPr>
          <a:xfrm>
            <a:off x="155448" y="136482"/>
            <a:ext cx="10058400" cy="844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Why Adopt an OpenCost-Like Solution?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35052-73DA-4C33-FA26-300050C86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02" y="981117"/>
            <a:ext cx="10658196" cy="55120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36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F87-2FD3-8254-24BE-0FF886F3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7DB5CDA-124D-CCBD-7693-A08FD9919B77}"/>
              </a:ext>
            </a:extLst>
          </p:cNvPr>
          <p:cNvSpPr txBox="1">
            <a:spLocks/>
          </p:cNvSpPr>
          <p:nvPr/>
        </p:nvSpPr>
        <p:spPr>
          <a:xfrm>
            <a:off x="155448" y="136482"/>
            <a:ext cx="10058400" cy="844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Opencost vs downstream vendors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06648A7-703C-CDB7-F183-ABB4472E4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81117"/>
            <a:ext cx="10058400" cy="4524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Collaboration, not competition: A shared standard enabling diverse experiences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BCC8E4-E0F4-0CC8-1B13-0B995EBE3158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433576"/>
            <a:ext cx="0" cy="517889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915BF1-8893-8DDD-E638-49DED604EF7F}"/>
              </a:ext>
            </a:extLst>
          </p:cNvPr>
          <p:cNvSpPr/>
          <p:nvPr/>
        </p:nvSpPr>
        <p:spPr>
          <a:xfrm>
            <a:off x="922866" y="2838705"/>
            <a:ext cx="3979332" cy="8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Open Standard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Core data model, spec-first API design, and community driven roadmap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37994E-F3F0-30F2-5A44-D26AB403AFB6}"/>
              </a:ext>
            </a:extLst>
          </p:cNvPr>
          <p:cNvSpPr/>
          <p:nvPr/>
        </p:nvSpPr>
        <p:spPr>
          <a:xfrm>
            <a:off x="922866" y="4015571"/>
            <a:ext cx="3979332" cy="8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Reference Implementation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Neutral reference UI and collection pipeline for Allocations and Assets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7D8FCD-EB3C-CEC8-1673-1EDA2EDAE2C7}"/>
              </a:ext>
            </a:extLst>
          </p:cNvPr>
          <p:cNvSpPr/>
          <p:nvPr/>
        </p:nvSpPr>
        <p:spPr>
          <a:xfrm>
            <a:off x="922866" y="5212420"/>
            <a:ext cx="3979332" cy="8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Unbiased Integration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Vendor-neutral base for cloud costs (AWS, Azure, GCP) and custom pricing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B6A22B-B88D-4148-111A-E99EA81CC4A2}"/>
              </a:ext>
            </a:extLst>
          </p:cNvPr>
          <p:cNvSpPr/>
          <p:nvPr/>
        </p:nvSpPr>
        <p:spPr>
          <a:xfrm>
            <a:off x="7205133" y="2838705"/>
            <a:ext cx="3979332" cy="8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Standard UX and Workflows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Tailored interface, SSO/RBAC, and enterprise specific team management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1D3BAF-B4A2-3E32-36CE-F7DCF4A9D569}"/>
              </a:ext>
            </a:extLst>
          </p:cNvPr>
          <p:cNvSpPr/>
          <p:nvPr/>
        </p:nvSpPr>
        <p:spPr>
          <a:xfrm>
            <a:off x="7205133" y="4015571"/>
            <a:ext cx="3979332" cy="8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Broader Observability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Advanced automation, anomaly detection, rightsizing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6C8F353-6468-EF4E-3B98-B492E52C6148}"/>
              </a:ext>
            </a:extLst>
          </p:cNvPr>
          <p:cNvSpPr/>
          <p:nvPr/>
        </p:nvSpPr>
        <p:spPr>
          <a:xfrm>
            <a:off x="7205133" y="5212420"/>
            <a:ext cx="3979332" cy="8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Commercial Support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SLAs, dedicated support channels, and guaranteed stability for enterprise</a:t>
            </a:r>
          </a:p>
        </p:txBody>
      </p:sp>
      <p:pic>
        <p:nvPicPr>
          <p:cNvPr id="2050" name="Picture 2" descr="Amazon ECR Public Gallery - IBM Kubecost/frontend">
            <a:extLst>
              <a:ext uri="{FF2B5EF4-FFF2-40B4-BE49-F238E27FC236}">
                <a16:creationId xmlns:a16="http://schemas.microsoft.com/office/drawing/2014/main" id="{8E5F075E-B3D2-6222-F31A-7B6AE5635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320" y="788181"/>
            <a:ext cx="2122422" cy="212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verview | OpenCost — open source cost monitoring for cloud ...">
            <a:extLst>
              <a:ext uri="{FF2B5EF4-FFF2-40B4-BE49-F238E27FC236}">
                <a16:creationId xmlns:a16="http://schemas.microsoft.com/office/drawing/2014/main" id="{BFF18EEF-502E-05B3-6CB7-E17A66833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09" y="1597022"/>
            <a:ext cx="2440245" cy="50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troduction | Randoli Docs">
            <a:extLst>
              <a:ext uri="{FF2B5EF4-FFF2-40B4-BE49-F238E27FC236}">
                <a16:creationId xmlns:a16="http://schemas.microsoft.com/office/drawing/2014/main" id="{96EBB397-5F7F-4EE2-0A5C-1E887B289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676" y="2085275"/>
            <a:ext cx="1097927" cy="32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C039CA3-F083-EAA1-E8CB-D736BB942D4A}"/>
              </a:ext>
            </a:extLst>
          </p:cNvPr>
          <p:cNvSpPr txBox="1">
            <a:spLocks/>
          </p:cNvSpPr>
          <p:nvPr/>
        </p:nvSpPr>
        <p:spPr>
          <a:xfrm>
            <a:off x="4178430" y="1771486"/>
            <a:ext cx="1515532" cy="452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400" dirty="0"/>
              <a:t>(Upstream)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9E23E5-4A60-7362-E7D6-CDAFB85F91FD}"/>
              </a:ext>
            </a:extLst>
          </p:cNvPr>
          <p:cNvSpPr txBox="1">
            <a:spLocks/>
          </p:cNvSpPr>
          <p:nvPr/>
        </p:nvSpPr>
        <p:spPr>
          <a:xfrm>
            <a:off x="9892114" y="1752774"/>
            <a:ext cx="2196307" cy="452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400" dirty="0"/>
              <a:t>(Downstream Vendors)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DA2DF9-4CE0-978A-C7D6-74CE156415E7}"/>
              </a:ext>
            </a:extLst>
          </p:cNvPr>
          <p:cNvCxnSpPr>
            <a:cxnSpLocks/>
          </p:cNvCxnSpPr>
          <p:nvPr/>
        </p:nvCxnSpPr>
        <p:spPr>
          <a:xfrm flipH="1" flipV="1">
            <a:off x="155448" y="2477273"/>
            <a:ext cx="11858752" cy="3732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662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A0EA-54E1-CD9A-FDA4-F5C0AD2B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1298DDB-412A-9ABE-F549-C0A58D804580}"/>
              </a:ext>
            </a:extLst>
          </p:cNvPr>
          <p:cNvSpPr txBox="1">
            <a:spLocks/>
          </p:cNvSpPr>
          <p:nvPr/>
        </p:nvSpPr>
        <p:spPr>
          <a:xfrm>
            <a:off x="2686981" y="3006682"/>
            <a:ext cx="10058400" cy="844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DEMO/Dashboard Walkthrough</a:t>
            </a:r>
          </a:p>
        </p:txBody>
      </p:sp>
    </p:spTree>
    <p:extLst>
      <p:ext uri="{BB962C8B-B14F-4D97-AF65-F5344CB8AC3E}">
        <p14:creationId xmlns:p14="http://schemas.microsoft.com/office/powerpoint/2010/main" val="303648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9284-46E0-C18C-D4B5-40D26C42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04902FB9-D33E-A6EB-D8DF-35BE517A0EDC}"/>
              </a:ext>
            </a:extLst>
          </p:cNvPr>
          <p:cNvSpPr txBox="1">
            <a:spLocks/>
          </p:cNvSpPr>
          <p:nvPr/>
        </p:nvSpPr>
        <p:spPr>
          <a:xfrm>
            <a:off x="172381" y="94148"/>
            <a:ext cx="10058400" cy="844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Get involved with Opencost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0900-C60E-2B49-01DD-DD1FE537AD5E}"/>
              </a:ext>
            </a:extLst>
          </p:cNvPr>
          <p:cNvSpPr txBox="1">
            <a:spLocks/>
          </p:cNvSpPr>
          <p:nvPr/>
        </p:nvSpPr>
        <p:spPr>
          <a:xfrm>
            <a:off x="239183" y="1019048"/>
            <a:ext cx="10945283" cy="4425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hlinkClick r:id="rId3"/>
              </a:rPr>
              <a:t>https://opencost.io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Slack</a:t>
            </a:r>
          </a:p>
          <a:p>
            <a:pPr lvl="1"/>
            <a:r>
              <a:rPr lang="en-US" sz="2000" dirty="0">
                <a:hlinkClick r:id="rId4"/>
              </a:rPr>
              <a:t>https://slack.cncf.io/#opencost</a:t>
            </a:r>
            <a:endParaRPr lang="en-US" sz="2000" dirty="0"/>
          </a:p>
          <a:p>
            <a:pPr marL="0" indent="0">
              <a:buNone/>
            </a:pPr>
            <a:r>
              <a:rPr lang="en-US" dirty="0"/>
              <a:t>GitHub</a:t>
            </a:r>
            <a:r>
              <a:rPr lang="en-US" sz="2200" dirty="0"/>
              <a:t> </a:t>
            </a:r>
          </a:p>
          <a:p>
            <a:pPr lvl="1"/>
            <a:r>
              <a:rPr lang="en-US" sz="2000" dirty="0">
                <a:hlinkClick r:id="rId5"/>
              </a:rPr>
              <a:t>https://github.com/opencost/opencost</a:t>
            </a:r>
            <a:endParaRPr lang="en-US" sz="2000" dirty="0"/>
          </a:p>
          <a:p>
            <a:pPr lvl="1"/>
            <a:r>
              <a:rPr lang="en-US" sz="2000" dirty="0">
                <a:hlinkClick r:id="rId6"/>
              </a:rPr>
              <a:t>https://github.com/opencost/opencost-helm-chart</a:t>
            </a:r>
            <a:r>
              <a:rPr lang="en-US" sz="2000" dirty="0"/>
              <a:t> </a:t>
            </a:r>
          </a:p>
          <a:p>
            <a:pPr lvl="1"/>
            <a:r>
              <a:rPr lang="en-US" sz="2000" dirty="0">
                <a:hlinkClick r:id="rId7"/>
              </a:rPr>
              <a:t>https://github.com/opencost/opencost-website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dirty="0"/>
              <a:t>Docs</a:t>
            </a:r>
          </a:p>
          <a:p>
            <a:pPr lvl="1"/>
            <a:r>
              <a:rPr lang="en-US" dirty="0"/>
              <a:t> </a:t>
            </a:r>
            <a:r>
              <a:rPr lang="en-US" sz="2000" dirty="0">
                <a:hlinkClick r:id="rId8"/>
              </a:rPr>
              <a:t>https://opencost.io/docs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200" dirty="0"/>
              <a:t>LinkedIn</a:t>
            </a:r>
          </a:p>
          <a:p>
            <a:pPr lvl="1"/>
            <a:r>
              <a:rPr lang="en-US" sz="2000" dirty="0">
                <a:hlinkClick r:id="rId9"/>
              </a:rPr>
              <a:t>https://linkedin.com/showcase/opencost/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649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5889</TotalTime>
  <Words>307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OpenCost</vt:lpstr>
      <vt:lpstr>Opencost and its Architecture</vt:lpstr>
      <vt:lpstr>Why This Matters: The day-2 cost problem 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Saravanan (MS/EDE5-XC)</dc:creator>
  <cp:lastModifiedBy>Vignesh Saravanan (MS/EDE5-XC)</cp:lastModifiedBy>
  <cp:revision>8</cp:revision>
  <dcterms:created xsi:type="dcterms:W3CDTF">2026-06-19T09:51:21Z</dcterms:created>
  <dcterms:modified xsi:type="dcterms:W3CDTF">2026-06-24T05:11:44Z</dcterms:modified>
</cp:coreProperties>
</file>