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warmly in Tamil. Energy high. One line on what the talk is: a story about building a chatbot properly, with the math that makes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seconds max. Land the open-source builder identity + experience arc, end on 'MSc Data Science at Loyola' — it sets up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with a laugh. Promise: by the end they can build this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mode ON. Slow down. Paint the admission-season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asks the SAME things. Humans answering them 500 times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of sympathy for helpdesk staff — that's the real problem worth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naive idea every dev has first. Let the audience nod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Punchline: hallucination. The bot answered with total confidence and total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hallucinated: the model never saw our documents. It predicts tokens, not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that leads to RAG.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one-line mental model. If they remember nothing else, remember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Megaphone moment. Name the technique AFTER the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talk in one diagram. We'll zoom into each box. This diagram returns on slide 33 fully detailed.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Generalize: ANY source works — docs, website, FAQ sheet, database export. Chunking numbers are typical ranges, not gospel.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= text becomes a point in space. Similar meaning = nearby points. Stress: no single number is readable — a human can't decode 0.12; only the whole pattern (direction) carries meaning. Dims vary by model: 384, 768, 1536.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Careful framing: semantic search = encoder (does the understanding) + measurement (compares directions). Cosine is only the measurement step. Alternatives exist: dot product (if normalized), Euclidean distance. 2D intuition: 'fee' and 'கட்டணம்' point the same way, zero shared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Demystify the measurement — but repeat the caveat: the encoder model is where the semantics live; cosine is just the ruler.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ingestion phase is one loop. Any language, any embedding provider, any vector DB — same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Brute force compares the query with EVERY stored vector. Fine at 1k chunks, brutal at 1M. Every query pays the full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for-loop at scale. There has to be a better way — ANN.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Approximate Nearest Neighbour: give up perfect recall (~95-99% is typical), get orders of magnitude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HNSW = skip list × graph. Top layers: few nodes, long jumps. Bottom layer: everyone. Greedy descent ≈ O(log N). Vector DBs run this for you — know what you're paying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Comic relief after the heaviest math. All four are valid at the right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Twist: embeddings BLUR exact tokens. Codes, IDs, acronyms melt into semantic mush. Real failure mode every RAG builder hits.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Panels: exact codes fail (panik) → add BM25 (kalm) → scores don't compare (panik). That last panik sets up RRF two slides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BM25: the classic keyword ranker from the 90s, still king for exact terms. Walk the fraction: IDF = rare words matter; numerator/denominator = term-frequency saturation via k1; b normalizes document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ranked lists, incompatible scores. RRF merges by RANK, not score — each list votes 1/(k+rank) for its results; add the votes. k=60 by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retrieval = the practical answer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never ask self-contained questions. 'and the fee?' means nothing to retrieval. Fix: small LLM call rewrites it using chat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20 questions = cache heaven. Cache key: language + rewritten query. Repeated answers return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provider fails: quota, 5xx, stalls. Chain fallbacks; last resort is deterministic FAQ answers. Never show a spinner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Guardrails: injection guard before the LLM, rate limits per user/IP, and hard grounding rules in the system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assembled. Walk the request path left to right. This is the slide to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bot from the story, live in production. Exact fee answer, grounded in the prospectus. Point out the follow-up chips and Translate/Simplify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bot answering IN TAMIL — per-message language detection. No separate Tamil pipeline, same retrieval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empowerment slide: everything is OSS or free-tier. Anyone in this hall can ship one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honest lessons from running one in production. Slow down, these are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opener. Keep energy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Namaste close. QR → LinkedIn. Invite people to connect and to try building their own bot this weekend.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71310"/>
                </a:solidFill>
                <a:latin typeface="Segoe UI Black"/>
              </a:rPr>
              <a:t>வணக்கம் MAKKALAE!!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CHATBOT DEVELOPMENT USING
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RAG &amp; VECTOR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457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6E665C"/>
                </a:solidFill>
                <a:latin typeface="Segoe UI"/>
              </a:rPr>
              <a:t>— with a kutty story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0">
                <a:solidFill>
                  <a:srgbClr val="6E665C"/>
                </a:solidFill>
                <a:latin typeface="Segoe UI"/>
              </a:rPr>
              <a:t>Anand Sundaramoorthy SA  ·  July 25, 2026  ·  Track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71310"/>
                </a:solidFill>
                <a:latin typeface="Segoe UI Black"/>
              </a:rPr>
              <a:t>ABOUT </a:t>
            </a:r>
            <a:r>
              <a:rPr sz="4400" b="1">
                <a:solidFill>
                  <a:srgbClr val="3BA07A"/>
                </a:solidFill>
                <a:latin typeface="Segoe UI Black"/>
              </a:rPr>
              <a:t>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7040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Developer &amp; Builder from Chennai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BA07A"/>
                </a:solidFill>
                <a:latin typeface="Segoe UI"/>
              </a:rPr>
              <a:t>•  Tech &amp; finance enthusiast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Love building things — and releasing them as </a:t>
            </a:r>
            <a:r>
              <a:rPr sz="2000" b="0">
                <a:solidFill>
                  <a:srgbClr val="3BA07A"/>
                </a:solidFill>
                <a:latin typeface="Segoe UI"/>
              </a:rPr>
              <a:t>open source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 AI Intern, Full-Stack Dev &amp; Project Manager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DiffuseAI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Ex-Business Development Manager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Sparks AI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Ex-Product &amp; Automation Engineering Intern  </a:t>
            </a:r>
            <a:r>
              <a:rPr sz="2000" b="0">
                <a:solidFill>
                  <a:srgbClr val="3BA07A"/>
                </a:solidFill>
                <a:latin typeface="Segoe UI"/>
              </a:rPr>
              <a:t>@ D2RAI Labs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Ex-Freelancer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71310"/>
                </a:solidFill>
                <a:latin typeface="Segoe UI"/>
              </a:rPr>
              <a:t>•  And finally… </a:t>
            </a:r>
            <a:r>
              <a:rPr sz="2000" b="0">
                <a:solidFill>
                  <a:srgbClr val="3BA07A"/>
                </a:solidFill>
                <a:latin typeface="Segoe UI"/>
              </a:rPr>
              <a:t>MSc Data Science @ Loyola College</a:t>
            </a:r>
          </a:p>
        </p:txBody>
      </p:sp>
      <p:pic>
        <p:nvPicPr>
          <p:cNvPr id="4" name="Picture 3" descr="anand-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050068"/>
            <a:ext cx="3566159" cy="33979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00415" y="1995204"/>
            <a:ext cx="3675887" cy="3507672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3BA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THE NEXT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40 MINUTES</a:t>
            </a:r>
          </a:p>
        </p:txBody>
      </p:sp>
      <p:pic>
        <p:nvPicPr>
          <p:cNvPr id="3" name="Picture 2" descr="vadivelu-frie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37" y="1417320"/>
            <a:ext cx="336042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1 story · konjam math · நிறைய memes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71310"/>
                </a:solidFill>
                <a:latin typeface="Segoe UI Black"/>
              </a:rPr>
              <a:t>ADMISSION SEASON.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474720"/>
            <a:ext cx="92656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One helpdesk number. It rings every 30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71310"/>
                </a:solidFill>
                <a:latin typeface="Segoe UI Black"/>
              </a:rPr>
              <a:t>SAME </a:t>
            </a:r>
            <a:r>
              <a:rPr sz="3600" b="1">
                <a:solidFill>
                  <a:srgbClr val="3BA07A"/>
                </a:solidFill>
                <a:latin typeface="Segoe UI Black"/>
              </a:rPr>
              <a:t>20 QUESTIONS</a:t>
            </a:r>
            <a:r>
              <a:rPr sz="3600" b="1">
                <a:solidFill>
                  <a:srgbClr val="171310"/>
                </a:solidFill>
                <a:latin typeface="Segoe UI Black"/>
              </a:rPr>
              <a:t> × THOUSANDS OF PARENTS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"What is the fee?"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"Last date to apply?"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"My daughter got 92%, which course?"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"Hostel available aa?"</a:t>
            </a:r>
          </a:p>
          <a:p>
            <a:pPr algn="l">
              <a:spcAft>
                <a:spcPts val="16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"Application submit aagala, enna panrathu?"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HELPDESK STAFF, CALL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#500</a:t>
            </a:r>
            <a:r>
              <a:rPr sz="3400" b="1">
                <a:solidFill>
                  <a:srgbClr val="171310"/>
                </a:solidFill>
                <a:latin typeface="Segoe UI Black"/>
              </a:rPr>
              <a:t> OF THE DAY</a:t>
            </a:r>
          </a:p>
        </p:txBody>
      </p:sp>
      <p:pic>
        <p:nvPicPr>
          <p:cNvPr id="3" name="Picture 2" descr="nesamani-sh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60289"/>
            <a:ext cx="9448495" cy="4251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BA07A"/>
                </a:solidFill>
                <a:latin typeface="Segoe UI Black"/>
              </a:rPr>
              <a:t>“LLM இருக்கே!”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566160"/>
            <a:ext cx="926561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Just connect an API and go live… right?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THE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PLAN</a:t>
            </a:r>
          </a:p>
        </p:txBody>
      </p:sp>
      <p:pic>
        <p:nvPicPr>
          <p:cNvPr id="3" name="Picture 2" descr="gru-pla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814" y="1417320"/>
            <a:ext cx="76980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LLMs DON'T KNOW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YOUR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Training data has a cutoff date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It has never seen your documents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171310"/>
                </a:solidFill>
                <a:latin typeface="Segoe UI"/>
              </a:rPr>
              <a:t>•  It predicts the next likely token — not the truth</a:t>
            </a:r>
          </a:p>
          <a:p>
            <a:pPr algn="l">
              <a:spcAft>
                <a:spcPts val="2000"/>
              </a:spcAft>
            </a:pPr>
            <a:r>
              <a:rPr sz="2800" b="0">
                <a:solidFill>
                  <a:srgbClr val="3BA07A"/>
                </a:solidFill>
                <a:latin typeface="Segoe UI"/>
              </a:rPr>
              <a:t>•  Confidence ≠ correctness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HOW DO I MAKE IT ANSWER FROM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MY DOCUMENTS?</a:t>
            </a:r>
          </a:p>
        </p:txBody>
      </p:sp>
      <p:pic>
        <p:nvPicPr>
          <p:cNvPr id="3" name="Picture 2" descr="vadivelu-think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523" y="1417320"/>
            <a:ext cx="6672648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71310"/>
                </a:solidFill>
                <a:latin typeface="Segoe UI Black"/>
              </a:rPr>
              <a:t>RAG = </a:t>
            </a:r>
            <a:r>
              <a:rPr sz="5600" b="1">
                <a:solidFill>
                  <a:srgbClr val="3BA07A"/>
                </a:solidFill>
                <a:latin typeface="Segoe UI Black"/>
              </a:rPr>
              <a:t>OPEN-BOOK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566160"/>
            <a:ext cx="926561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Don't retrain the student. Hand them the right page at answer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INTRODUCING…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RAG!</a:t>
            </a:r>
          </a:p>
        </p:txBody>
      </p:sp>
      <p:pic>
        <p:nvPicPr>
          <p:cNvPr id="3" name="Picture 2" descr="vadivelu-announc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26" y="1417320"/>
            <a:ext cx="755504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Retrieval-Augmented Generation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EVERY RAG CHATBOT HAS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3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796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171310"/>
                </a:solidFill>
                <a:latin typeface="Segoe UI Black"/>
              </a:rPr>
              <a:t>INGEST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documents → chunks → vectors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33775" y="3447288"/>
            <a:ext cx="1289304" cy="320040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3280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3BA07A"/>
                </a:solidFill>
                <a:latin typeface="Segoe UI Black"/>
              </a:rPr>
              <a:t>RETRIEVE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find the right chunks for a 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68615" y="3447288"/>
            <a:ext cx="1289304" cy="320040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67647" y="2743200"/>
            <a:ext cx="2926080" cy="1737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000" b="1">
                <a:solidFill>
                  <a:srgbClr val="171310"/>
                </a:solidFill>
                <a:latin typeface="Segoe UI Black"/>
              </a:rPr>
              <a:t>GENERATE</a:t>
            </a:r>
          </a:p>
          <a:p>
            <a:pPr algn="ctr"/>
            <a:r>
              <a:rPr sz="1300">
                <a:solidFill>
                  <a:srgbClr val="6E665C"/>
                </a:solidFill>
                <a:latin typeface="Segoe UI"/>
              </a:rPr>
              <a:t>LLM answers using ONLY those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Offline, once per document update: INGEST · Online, every question: RETRIEVE + GENERATE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PHASE 1: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Take your knowledge source — documents, website, FAQs, database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Extract clean text (strip menus, headers, junk)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Split into </a:t>
            </a:r>
            <a:r>
              <a:rPr sz="2600" b="0">
                <a:solidFill>
                  <a:srgbClr val="3BA07A"/>
                </a:solidFill>
                <a:latin typeface="Segoe UI"/>
              </a:rPr>
              <a:t>chunks</a:t>
            </a:r>
            <a:r>
              <a:rPr sz="2600" b="0">
                <a:solidFill>
                  <a:srgbClr val="171310"/>
                </a:solidFill>
                <a:latin typeface="Segoe UI"/>
              </a:rPr>
              <a:t> — typically 500–1500 characters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Keep </a:t>
            </a:r>
            <a:r>
              <a:rPr sz="2600" b="0">
                <a:solidFill>
                  <a:srgbClr val="3BA07A"/>
                </a:solidFill>
                <a:latin typeface="Segoe UI"/>
              </a:rPr>
              <a:t>10–20% overlap</a:t>
            </a:r>
            <a:r>
              <a:rPr sz="2600" b="0">
                <a:solidFill>
                  <a:srgbClr val="171310"/>
                </a:solidFill>
                <a:latin typeface="Segoe UI"/>
              </a:rPr>
              <a:t> so answers don't get cut at boundaries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WHAT IS AN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EMBEDDING?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TEXT  →  [0.12, −0.98, 0.45, …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9265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A vector of hundreds of numbers. Meaning becomes direction in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92656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Each number = one learned feature. </a:t>
            </a:r>
            <a:r>
              <a:rPr sz="2000" b="1">
                <a:solidFill>
                  <a:srgbClr val="3BA07A"/>
                </a:solidFill>
                <a:latin typeface="Segoe UI"/>
              </a:rPr>
              <a:t>Individually they mean nothing to humans</a:t>
            </a:r>
            <a:r>
              <a:rPr sz="2000" b="1">
                <a:solidFill>
                  <a:srgbClr val="6E665C"/>
                </a:solidFill>
                <a:latin typeface="Segoe UI"/>
              </a:rPr>
              <a:t> — the pattern of the whole vector carries the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Common sizes: 384 · 768 · 1536 dimensions, depending on the embedding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MEASUREMENT STEP: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COSINE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71310"/>
                </a:solidFill>
                <a:latin typeface="Segoe UI Black"/>
              </a:rPr>
              <a:t>cos θ = (A · B) / (‖A‖ ‖B‖)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57600"/>
            <a:ext cx="92656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Same direction → similar meaning.  “fee” ≈ “கட்டணம்” point the same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92656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3BA07A"/>
                </a:solidFill>
                <a:latin typeface="Segoe UI"/>
              </a:rPr>
              <a:t>The encoder does the understanding</a:t>
            </a:r>
            <a:r>
              <a:rPr sz="2000" b="1">
                <a:solidFill>
                  <a:srgbClr val="6E665C"/>
                </a:solidFill>
                <a:latin typeface="Segoe UI"/>
              </a:rPr>
              <a:t> — cosine only measures how close two directions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1.0 = same direction · 0 = unrelated · −1 = opposite  ·  alternatives: dot product (normalized vectors), Euclidean distance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“WAIT, THE MEASUREMENT IS JUST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ONE FORMULA</a:t>
            </a:r>
            <a:r>
              <a:rPr sz="3400" b="1">
                <a:solidFill>
                  <a:srgbClr val="171310"/>
                </a:solidFill>
                <a:latin typeface="Segoe UI Black"/>
              </a:rPr>
              <a:t>?”</a:t>
            </a:r>
          </a:p>
        </p:txBody>
      </p:sp>
      <p:pic>
        <p:nvPicPr>
          <p:cNvPr id="3" name="Picture 2" descr="always-has-b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27" y="1417320"/>
            <a:ext cx="79654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“Always has been.”   </a:t>
            </a:r>
            <a:r>
              <a:rPr sz="2000" b="1">
                <a:solidFill>
                  <a:srgbClr val="3BA07A"/>
                </a:solidFill>
                <a:latin typeface="Segoe UI"/>
              </a:rPr>
              <a:t>(semantic search ≠ cosine — the encoder does the real magic)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71310"/>
                </a:solidFill>
                <a:latin typeface="Segoe UI Black"/>
              </a:rPr>
              <a:t>INGESTION =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ONE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2011680"/>
            <a:ext cx="7772400" cy="2377440"/>
          </a:xfrm>
          <a:prstGeom prst="roundRect">
            <a:avLst>
              <a:gd name="adj" fmla="val 6000"/>
            </a:avLst>
          </a:prstGeom>
          <a:solidFill>
            <a:srgbClr val="14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23160" y="2212848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97480" y="2212848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800" y="2212848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586C0"/>
                </a:solidFill>
                <a:latin typeface="Consolas"/>
              </a:rPr>
              <a:t>for</a:t>
            </a:r>
            <a:r>
              <a:rPr sz="2000">
                <a:solidFill>
                  <a:srgbClr val="E8E6F0"/>
                </a:solidFill>
                <a:latin typeface="Consolas"/>
              </a:rPr>
              <a:t> chunk </a:t>
            </a:r>
            <a:r>
              <a:rPr sz="2000">
                <a:solidFill>
                  <a:srgbClr val="C586C0"/>
                </a:solidFill>
                <a:latin typeface="Consolas"/>
              </a:rPr>
              <a:t>in</a:t>
            </a:r>
            <a:r>
              <a:rPr sz="2000">
                <a:solidFill>
                  <a:srgbClr val="E8E6F0"/>
                </a:solidFill>
                <a:latin typeface="Consolas"/>
              </a:rPr>
              <a:t> chunks:</a:t>
            </a:r>
          </a:p>
          <a:p>
            <a:r>
              <a:rPr sz="2000">
                <a:solidFill>
                  <a:srgbClr val="E8E6F0"/>
                </a:solidFill>
                <a:latin typeface="Consolas"/>
              </a:rPr>
              <a:t>    vector = </a:t>
            </a:r>
            <a:r>
              <a:rPr sz="2000">
                <a:solidFill>
                  <a:srgbClr val="6AB0F3"/>
                </a:solidFill>
                <a:latin typeface="Consolas"/>
              </a:rPr>
              <a:t>embed</a:t>
            </a:r>
            <a:r>
              <a:rPr sz="2000">
                <a:solidFill>
                  <a:srgbClr val="E8E6F0"/>
                </a:solidFill>
                <a:latin typeface="Consolas"/>
              </a:rPr>
              <a:t>(chunk)</a:t>
            </a:r>
            <a:r>
              <a:rPr sz="2000">
                <a:solidFill>
                  <a:srgbClr val="7F848E"/>
                </a:solidFill>
                <a:latin typeface="Consolas"/>
              </a:rPr>
              <a:t>    # hundreds of numbers</a:t>
            </a:r>
          </a:p>
          <a:p>
            <a:r>
              <a:rPr sz="2000">
                <a:solidFill>
                  <a:srgbClr val="E8E6F0"/>
                </a:solidFill>
                <a:latin typeface="Consolas"/>
              </a:rPr>
              <a:t>    vectordb.</a:t>
            </a:r>
            <a:r>
              <a:rPr sz="2000">
                <a:solidFill>
                  <a:srgbClr val="6AB0F3"/>
                </a:solidFill>
                <a:latin typeface="Consolas"/>
              </a:rPr>
              <a:t>upsert</a:t>
            </a:r>
            <a:r>
              <a:rPr sz="2000">
                <a:solidFill>
                  <a:srgbClr val="E8E6F0"/>
                </a:solidFill>
                <a:latin typeface="Consolas"/>
              </a:rPr>
              <a:t>(id, vector, {</a:t>
            </a:r>
            <a:r>
              <a:rPr sz="2000">
                <a:solidFill>
                  <a:srgbClr val="E9B16E"/>
                </a:solidFill>
                <a:latin typeface="Consolas"/>
              </a:rPr>
              <a:t>"text"</a:t>
            </a:r>
            <a:r>
              <a:rPr sz="2000">
                <a:solidFill>
                  <a:srgbClr val="E8E6F0"/>
                </a:solidFill>
                <a:latin typeface="Consolas"/>
              </a:rPr>
              <a:t>: chunk})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457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any language · any provider · any vector DB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1 MILLION CHUNKS.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NOW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Brute force: compare the query with every single vector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Cost per query: </a:t>
            </a:r>
            <a:r>
              <a:rPr sz="2600" b="0">
                <a:solidFill>
                  <a:srgbClr val="3BA07A"/>
                </a:solidFill>
                <a:latin typeface="Segoe UI"/>
              </a:rPr>
              <a:t>O(N × d)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N vectors × d dimensions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1M chunks × 768 dims = ~768M multiplications per question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And you pay it on EVERY question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SEARCHING EVERY CHUNK,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ONE BY ONE</a:t>
            </a:r>
          </a:p>
        </p:txBody>
      </p:sp>
      <p:pic>
        <p:nvPicPr>
          <p:cNvPr id="3" name="Picture 2" descr="vadivelu-binocul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527" y="1417320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BA07A"/>
                </a:solidFill>
                <a:latin typeface="Segoe UI Black"/>
              </a:rPr>
              <a:t>ANN</a:t>
            </a:r>
            <a:r>
              <a:rPr sz="5200" b="1">
                <a:solidFill>
                  <a:srgbClr val="171310"/>
                </a:solidFill>
                <a:latin typeface="Segoe UI Black"/>
              </a:rPr>
              <a:t>: DON'T CHECK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474720"/>
            <a:ext cx="92656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Approximate Nearest Neighbour — ask the right neighborhood. Trade a little recall for a LOT of speed.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3BA07A"/>
                </a:solidFill>
                <a:latin typeface="Segoe UI Black"/>
              </a:rPr>
              <a:t>HNSW</a:t>
            </a:r>
            <a:r>
              <a:rPr sz="3800" b="1">
                <a:solidFill>
                  <a:srgbClr val="171310"/>
                </a:solidFill>
                <a:latin typeface="Segoe UI Black"/>
              </a:rPr>
              <a:t> — LAYERED HIGHWAYS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239572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2 — few nodes, LONG hops</a:t>
            </a:r>
          </a:p>
        </p:txBody>
      </p:sp>
      <p:sp>
        <p:nvSpPr>
          <p:cNvPr id="5" name="Oval 4"/>
          <p:cNvSpPr/>
          <p:nvPr/>
        </p:nvSpPr>
        <p:spPr>
          <a:xfrm>
            <a:off x="22037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613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18904" y="200253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06324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72160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1 — more nodes, medium hops</a:t>
            </a:r>
          </a:p>
        </p:txBody>
      </p:sp>
      <p:sp>
        <p:nvSpPr>
          <p:cNvPr id="10" name="Oval 9"/>
          <p:cNvSpPr/>
          <p:nvPr/>
        </p:nvSpPr>
        <p:spPr>
          <a:xfrm>
            <a:off x="22037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325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613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901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18904" y="332841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389120"/>
            <a:ext cx="9966960" cy="960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047488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65C"/>
                </a:solidFill>
                <a:latin typeface="Segoe UI"/>
              </a:rPr>
              <a:t>Layer 0 — ALL nodes, short precise hops</a:t>
            </a:r>
          </a:p>
        </p:txBody>
      </p:sp>
      <p:sp>
        <p:nvSpPr>
          <p:cNvPr id="17" name="Oval 16"/>
          <p:cNvSpPr/>
          <p:nvPr/>
        </p:nvSpPr>
        <p:spPr>
          <a:xfrm>
            <a:off x="15636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780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24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068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212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356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500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44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788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93224" y="4654296"/>
            <a:ext cx="164592" cy="164592"/>
          </a:xfrm>
          <a:prstGeom prst="ellipse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286000" y="2084832"/>
            <a:ext cx="36576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0" y="2084832"/>
            <a:ext cx="0" cy="132588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43600" y="3410712"/>
            <a:ext cx="18288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72400" y="3410712"/>
            <a:ext cx="0" cy="132588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4736592"/>
            <a:ext cx="27432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46720" y="4736592"/>
            <a:ext cx="914400" cy="0"/>
          </a:xfrm>
          <a:prstGeom prst="line">
            <a:avLst/>
          </a:prstGeom>
          <a:ln w="38100">
            <a:solidFill>
              <a:srgbClr val="3BA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167128" y="1965960"/>
            <a:ext cx="237744" cy="237744"/>
          </a:xfrm>
          <a:prstGeom prst="ellipse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42248" y="4617720"/>
            <a:ext cx="237744" cy="237744"/>
          </a:xfrm>
          <a:prstGeom prst="ellipse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skip-list × graph → greedy descent → ~O(log N) · your vector DB implements this FOR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HOW DEVS SEARCH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VECTORS</a:t>
            </a:r>
          </a:p>
        </p:txBody>
      </p:sp>
      <p:pic>
        <p:nvPicPr>
          <p:cNvPr id="3" name="Picture 2" descr="expanding-brai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89" y="1417320"/>
            <a:ext cx="35205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71310"/>
                </a:solidFill>
                <a:latin typeface="Segoe UI Black"/>
              </a:rPr>
              <a:t>“IS </a:t>
            </a:r>
            <a:r>
              <a:rPr sz="5400" b="1">
                <a:solidFill>
                  <a:srgbClr val="3BA07A"/>
                </a:solidFill>
                <a:latin typeface="Segoe UI Black"/>
              </a:rPr>
              <a:t>NIOS</a:t>
            </a:r>
            <a:r>
              <a:rPr sz="5400" b="1">
                <a:solidFill>
                  <a:srgbClr val="171310"/>
                </a:solidFill>
                <a:latin typeface="Segoe UI Black"/>
              </a:rPr>
              <a:t> ACCEPTED?”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383280"/>
            <a:ext cx="926561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Pure vector search returns… semantic mush.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6E665C"/>
                </a:solidFill>
                <a:latin typeface="Segoe UI"/>
              </a:rPr>
              <a:t>Embeddings blur exact tokens — codes, IDs, acronyms, program names.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VECTORS: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GREAT UNTIL THEY AREN'T</a:t>
            </a:r>
          </a:p>
        </p:txBody>
      </p:sp>
      <p:pic>
        <p:nvPicPr>
          <p:cNvPr id="3" name="Picture 2" descr="panik-kalm-panik-labe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336" y="1417320"/>
            <a:ext cx="358702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OLD IS GOLD: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BM25</a:t>
            </a:r>
          </a:p>
        </p:txBody>
      </p:sp>
      <p:pic>
        <p:nvPicPr>
          <p:cNvPr id="3" name="Picture 2" descr="formula-bm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391376"/>
            <a:ext cx="9601200" cy="1069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4297680"/>
            <a:ext cx="92656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Rare words matter more (IDF) · repeating a word saturates (k₁) · long docs get normalized 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Standard defaults: k₁ ≈ 1.2–2.0, b ≈ 0.75 — they just 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1310"/>
                </a:solidFill>
                <a:latin typeface="Segoe UI Black"/>
              </a:rPr>
              <a:t>MERGE THE TWO LISTS: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RRF</a:t>
            </a:r>
          </a:p>
        </p:txBody>
      </p:sp>
      <p:pic>
        <p:nvPicPr>
          <p:cNvPr id="3" name="Picture 2" descr="formula-r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301921"/>
            <a:ext cx="6309360" cy="12483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4297680"/>
            <a:ext cx="92656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Each list votes </a:t>
            </a:r>
            <a:r>
              <a:rPr sz="2000" b="0">
                <a:solidFill>
                  <a:srgbClr val="3BA07A"/>
                </a:solidFill>
                <a:latin typeface="Segoe UI"/>
              </a:rPr>
              <a:t>1/(k + rank)</a:t>
            </a:r>
            <a:r>
              <a:rPr sz="2000" b="0">
                <a:solidFill>
                  <a:srgbClr val="6E665C"/>
                </a:solidFill>
                <a:latin typeface="Segoe UI"/>
              </a:rPr>
              <a:t> for its results — add the votes.</a:t>
            </a:r>
          </a:p>
          <a:p>
            <a:pPr algn="ctr">
              <a:spcAft>
                <a:spcPts val="1400"/>
              </a:spcAft>
            </a:pPr>
            <a:r>
              <a:rPr sz="2000" b="0">
                <a:solidFill>
                  <a:srgbClr val="6E665C"/>
                </a:solidFill>
                <a:latin typeface="Segoe UI"/>
              </a:rPr>
              <a:t>Only ranks are used, so BM25 and cosine scores never need comparing.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Reciprocal Rank Fusion · k = 60 by convention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BM25 vs VECTOR vs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HYBRID</a:t>
            </a:r>
          </a:p>
        </p:txBody>
      </p:sp>
      <p:pic>
        <p:nvPicPr>
          <p:cNvPr id="3" name="Picture 2" descr="spiderman-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341" y="1417320"/>
            <a:ext cx="487901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Why not both, properly merged?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USERS ASK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FOLLOW-UPS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User: </a:t>
            </a:r>
            <a:r>
              <a:rPr sz="2600" b="0">
                <a:solidFill>
                  <a:srgbClr val="171310"/>
                </a:solidFill>
                <a:latin typeface="Segoe UI"/>
              </a:rPr>
              <a:t>“Tell me about B.Com”</a:t>
            </a:r>
            <a:r>
              <a:rPr sz="2600" b="0">
                <a:solidFill>
                  <a:srgbClr val="171310"/>
                </a:solidFill>
                <a:latin typeface="Segoe UI"/>
              </a:rPr>
              <a:t>   →   works fine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User: </a:t>
            </a:r>
            <a:r>
              <a:rPr sz="2600" b="0">
                <a:solidFill>
                  <a:srgbClr val="3BA07A"/>
                </a:solidFill>
                <a:latin typeface="Segoe UI"/>
              </a:rPr>
              <a:t>“and the fee?”</a:t>
            </a:r>
            <a:r>
              <a:rPr sz="2600" b="0">
                <a:solidFill>
                  <a:srgbClr val="171310"/>
                </a:solidFill>
                <a:latin typeface="Segoe UI"/>
              </a:rPr>
              <a:t>   →   retrieval gets garbage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Fix: rewrite the query using conversation history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“and the fee?”  →  “What is the fee for B.Com?”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CACHE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Cache key: (language, rewritten query)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Repeat questions answer in milliseconds, not seconds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Zero LLM cost on cache hits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Users ask the same 20 things — that IS the workload</a:t>
            </a:r>
          </a:p>
        </p:txBody>
      </p:sp>
      <p:pic>
        <p:nvPicPr>
          <p:cNvPr id="4" name="Picture 3" descr="vadivelu-sup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9388"/>
            <a:ext cx="4206240" cy="21821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Segoe UI Black"/>
              </a:rPr>
              <a:t>PROVIDERS </a:t>
            </a:r>
            <a:r>
              <a:rPr sz="4000" b="1">
                <a:solidFill>
                  <a:srgbClr val="3BA07A"/>
                </a:solidFill>
                <a:latin typeface="Segoe UI Black"/>
              </a:rPr>
              <a:t>WILL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Primary LLM  →  fallback LLM  →  static FAQ  →  graceful error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Different providers = independent quotas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Timeout guards on stream start AND between chunks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71310"/>
                </a:solidFill>
                <a:latin typeface="Segoe UI"/>
              </a:rPr>
              <a:t>•  Degrade gracefully — never hang, never lie</a:t>
            </a:r>
          </a:p>
        </p:txBody>
      </p:sp>
      <p:pic>
        <p:nvPicPr>
          <p:cNvPr id="4" name="Picture 3" descr="this-is-f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17929"/>
            <a:ext cx="4206240" cy="20451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CAGE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THE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Prompt-injection guard — before the LLM ever sees the message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Rate limiting per user / IP — bots can't burn your quota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Grounding rule: answer </a:t>
            </a:r>
            <a:r>
              <a:rPr sz="2600" b="0">
                <a:solidFill>
                  <a:srgbClr val="3BA07A"/>
                </a:solidFill>
                <a:latin typeface="Segoe UI"/>
              </a:rPr>
              <a:t>ONLY</a:t>
            </a:r>
            <a:r>
              <a:rPr sz="2600" b="0">
                <a:solidFill>
                  <a:srgbClr val="171310"/>
                </a:solidFill>
                <a:latin typeface="Segoe UI"/>
              </a:rPr>
              <a:t> from the provided context — else say “I don't know”</a:t>
            </a:r>
          </a:p>
          <a:p>
            <a:pPr algn="l">
              <a:spcAft>
                <a:spcPts val="1800"/>
              </a:spcAft>
            </a:pPr>
            <a:r>
              <a:rPr sz="2600" b="0">
                <a:solidFill>
                  <a:srgbClr val="171310"/>
                </a:solidFill>
                <a:latin typeface="Segoe UI"/>
              </a:rPr>
              <a:t>•  Scope rule: off-topic questions get politely redirected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71310"/>
                </a:solidFill>
                <a:latin typeface="Segoe UI Black"/>
              </a:rPr>
              <a:t>THE FULL </a:t>
            </a:r>
            <a:r>
              <a:rPr sz="3600" b="1">
                <a:solidFill>
                  <a:srgbClr val="3BA07A"/>
                </a:solidFill>
                <a:latin typeface="Segoe UI Black"/>
              </a:rPr>
              <a:t>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USER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question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12264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9736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GUARD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injection + rate limit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16552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CACHE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hit → done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73368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171310"/>
                </a:solidFill>
                <a:latin typeface="Segoe UI Black"/>
              </a:rPr>
              <a:t>REWRITE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history-aware query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82712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30184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3BA07A"/>
                </a:solidFill>
                <a:latin typeface="Segoe UI Black"/>
              </a:rPr>
              <a:t>HYBRID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BM25 + vector + RRF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39528" y="2523744"/>
            <a:ext cx="310896" cy="256032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87000" y="1965960"/>
            <a:ext cx="1572768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600" b="1">
                <a:solidFill>
                  <a:srgbClr val="3BA07A"/>
                </a:solidFill>
                <a:latin typeface="Segoe UI Black"/>
              </a:rPr>
              <a:t>LLM</a:t>
            </a:r>
          </a:p>
          <a:p>
            <a:pPr algn="ctr"/>
            <a:r>
              <a:rPr sz="1100">
                <a:solidFill>
                  <a:srgbClr val="6E665C"/>
                </a:solidFill>
                <a:latin typeface="Segoe UI"/>
              </a:rPr>
              <a:t>grounded + failover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171310"/>
                </a:solidFill>
                <a:latin typeface="Segoe UI Black"/>
              </a:rPr>
              <a:t>DOCUMENTS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your knowledge source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43400" y="4498848"/>
            <a:ext cx="548640" cy="237744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171310"/>
                </a:solidFill>
                <a:latin typeface="Segoe UI Black"/>
              </a:rPr>
              <a:t>CHUNK + EMBED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offline, on every update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4498848"/>
            <a:ext cx="548640" cy="237744"/>
          </a:xfrm>
          <a:prstGeom prst="rightArrow">
            <a:avLst/>
          </a:prstGeom>
          <a:solidFill>
            <a:srgbClr val="3B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2194560" cy="1005840"/>
          </a:xfrm>
          <a:prstGeom prst="roundRect">
            <a:avLst>
              <a:gd name="adj" fmla="val 14000"/>
            </a:avLst>
          </a:prstGeom>
          <a:solidFill>
            <a:srgbClr val="E9F4EE"/>
          </a:solidFill>
          <a:ln w="22225">
            <a:solidFill>
              <a:srgbClr val="1713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400" b="1">
                <a:solidFill>
                  <a:srgbClr val="3BA07A"/>
                </a:solidFill>
                <a:latin typeface="Segoe UI Black"/>
              </a:rPr>
              <a:t>VECTOR DB</a:t>
            </a:r>
          </a:p>
          <a:p>
            <a:pPr algn="ctr"/>
            <a:r>
              <a:rPr sz="1000">
                <a:solidFill>
                  <a:srgbClr val="6E665C"/>
                </a:solidFill>
                <a:latin typeface="Segoe UI"/>
              </a:rPr>
              <a:t>HNSW inside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8366760" y="3337560"/>
            <a:ext cx="777240" cy="777240"/>
          </a:xfrm>
          <a:prstGeom prst="line">
            <a:avLst/>
          </a:prstGeom>
          <a:ln w="25400">
            <a:solidFill>
              <a:srgbClr val="6E66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355080"/>
            <a:ext cx="10911535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E665C"/>
                </a:solidFill>
                <a:latin typeface="Segoe UI"/>
              </a:rPr>
              <a:t>Top lane: every question (online) · Bottom lane: every document update (offline)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BOT FROM THE STORY: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BOTINIGO.COM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5775" cy="570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3BA07A"/>
                </a:solidFill>
                <a:latin typeface="Segoe UI"/>
              </a:rPr>
              <a:t>தமிழ் or English or Hindi</a:t>
            </a:r>
            <a:r>
              <a:rPr sz="1800" b="1">
                <a:solidFill>
                  <a:srgbClr val="6E665C"/>
                </a:solidFill>
                <a:latin typeface="Segoe UI"/>
              </a:rPr>
              <a:t> — same pipeline, language detected per message</a:t>
            </a:r>
          </a:p>
        </p:txBody>
      </p:sp>
      <p:pic>
        <p:nvPicPr>
          <p:cNvPr id="4" name="Picture 3" descr="botinigo-demo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08" y="1234440"/>
            <a:ext cx="796910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71310"/>
                </a:solidFill>
                <a:latin typeface="Segoe UI Black"/>
              </a:rPr>
              <a:t>THE BOT FROM THE STORY: </a:t>
            </a:r>
            <a:r>
              <a:rPr sz="3200" b="1">
                <a:solidFill>
                  <a:srgbClr val="3BA07A"/>
                </a:solidFill>
                <a:latin typeface="Segoe UI Black"/>
              </a:rPr>
              <a:t>BOTINIGO.COM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5775" cy="570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3BA07A"/>
                </a:solidFill>
                <a:latin typeface="Segoe UI"/>
              </a:rPr>
              <a:t>தமிழ் or English or Hindi</a:t>
            </a:r>
            <a:r>
              <a:rPr sz="1800" b="1">
                <a:solidFill>
                  <a:srgbClr val="6E665C"/>
                </a:solidFill>
                <a:latin typeface="Segoe UI"/>
              </a:rPr>
              <a:t> — same pipeline, language detected per message</a:t>
            </a:r>
          </a:p>
        </p:txBody>
      </p:sp>
      <p:pic>
        <p:nvPicPr>
          <p:cNvPr id="4" name="Picture 3" descr="botinigo-demo-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208" y="1234440"/>
            <a:ext cx="796910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71310"/>
                </a:solidFill>
                <a:latin typeface="Segoe UI Black"/>
              </a:rPr>
              <a:t>BUILD YOUR OWN — THE </a:t>
            </a:r>
            <a:r>
              <a:rPr sz="3800" b="1">
                <a:solidFill>
                  <a:srgbClr val="3BA07A"/>
                </a:solidFill>
                <a:latin typeface="Segoe UI Black"/>
              </a:rPr>
              <a:t>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4577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1.  Pick a knowledge source you actually care about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2.  Extract text → chunk (500–1500 chars, 10–20% overlap)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3.  Embed → any vector DB (free tiers everywhere)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4.  Add keyword search (BM25) → merge with RRF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5.  Cage the LLM: grounding rules + injection guard + rate limit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6.  Cache answers · chain fallback providers</a:t>
            </a:r>
          </a:p>
          <a:p>
            <a:pPr algn="l">
              <a:spcAft>
                <a:spcPts val="1100"/>
              </a:spcAft>
            </a:pPr>
            <a:r>
              <a:rPr sz="2300" b="0">
                <a:solidFill>
                  <a:srgbClr val="171310"/>
                </a:solidFill>
                <a:latin typeface="Segoe UI"/>
              </a:rPr>
              <a:t>7.  Ship → watch real questions → fix the gaps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BA07A"/>
                </a:solidFill>
                <a:latin typeface="Segoe UI Black"/>
              </a:rPr>
              <a:t>LESSONS</a:t>
            </a:r>
            <a:r>
              <a:rPr sz="4000" b="1">
                <a:solidFill>
                  <a:srgbClr val="171310"/>
                </a:solidFill>
                <a:latin typeface="Segoe UI Black"/>
              </a:rPr>
              <a:t> FROM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Hybrid beats pure vector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exact terms need keyword search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Ground everything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no context, no answer, no guessing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Cache aggressively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real users repeat themselves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3BA07A"/>
                </a:solidFill>
                <a:latin typeface="Segoe UI"/>
              </a:rPr>
              <a:t>•  Fail open, degrade gracefully</a:t>
            </a:r>
            <a:r>
              <a:rPr sz="2600" b="0">
                <a:solidFill>
                  <a:srgbClr val="171310"/>
                </a:solidFill>
                <a:latin typeface="Segoe UI"/>
              </a:rPr>
              <a:t>  — fallbacks over spinners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71310"/>
                </a:solidFill>
                <a:latin typeface="Segoe UI Black"/>
              </a:rPr>
              <a:t>PRESENTATION </a:t>
            </a:r>
            <a:r>
              <a:rPr sz="3400" b="1">
                <a:solidFill>
                  <a:srgbClr val="3BA07A"/>
                </a:solidFill>
                <a:latin typeface="Segoe UI Black"/>
              </a:rPr>
              <a:t>FINISHED!</a:t>
            </a:r>
          </a:p>
        </p:txBody>
      </p:sp>
      <p:pic>
        <p:nvPicPr>
          <p:cNvPr id="3" name="Picture 2" descr="success-k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567" y="1417320"/>
            <a:ext cx="448056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9893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6E665C"/>
                </a:solidFill>
                <a:latin typeface="Segoe UI"/>
              </a:rPr>
              <a:t>Got any questions?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adivelu-namas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22960"/>
            <a:ext cx="4169664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0972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71310"/>
                </a:solidFill>
                <a:latin typeface="Segoe UI Black"/>
              </a:rPr>
              <a:t>நன்றி!
</a:t>
            </a:r>
            <a:r>
              <a:rPr sz="5400" b="1">
                <a:solidFill>
                  <a:srgbClr val="3BA07A"/>
                </a:solidFill>
                <a:latin typeface="Segoe UI Black"/>
              </a:rPr>
              <a:t>THANK YOU!!</a:t>
            </a:r>
          </a:p>
        </p:txBody>
      </p:sp>
      <p:pic>
        <p:nvPicPr>
          <p:cNvPr id="4" name="Picture 3" descr="qr-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01752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212080"/>
            <a:ext cx="6035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3BA07A"/>
                </a:solidFill>
                <a:latin typeface="Segoe UI"/>
              </a:rPr>
              <a:t>linkedin.com/in/anandsundaramoorthysa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71310"/>
                </a:solidFill>
                <a:latin typeface="Segoe UI"/>
              </a:rPr>
              <a:t>Anand Sundaramoorthy 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